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57" r:id="rId3"/>
    <p:sldId id="263" r:id="rId4"/>
    <p:sldId id="261" r:id="rId5"/>
    <p:sldId id="260" r:id="rId6"/>
    <p:sldId id="264" r:id="rId7"/>
    <p:sldId id="262" r:id="rId8"/>
    <p:sldId id="265" r:id="rId9"/>
    <p:sldId id="268" r:id="rId10"/>
    <p:sldId id="397" r:id="rId11"/>
    <p:sldId id="267" r:id="rId12"/>
    <p:sldId id="266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452" y="-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49:0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24300,'175'4150'0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49:08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1708 0 24266,'-1707'2734'0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49:2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24431,'3006'2211'0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49:46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24575,'62'0'0,"127"3"0,-157 0 0,-1 1 0,1 1 0,57 18 0,-67-14 0,0 1 0,34 22 0,-9-5 0,-45-26 0,30 16 0,32 22 0,-54-32 0,-1 1 0,0 0 0,0 0 0,-1 0 0,0 1 0,0 1 0,9 14 0,-17-24 0,18 31 0,18 37 0,-31-56 0,-1 0 0,0 0 0,-1 1 0,0-1 0,-1 1 0,1 25 0,6 72 0,0 15 0,-11-72-86,1 38 287,1-81-412,1 0-1,0 1 1,1-1-1,0 0 1,1 0-1,4 11 1,6 5-6615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49:57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1 297 24575,'4'0'0,"0"1"0,1 0 0,-1 0 0,1 0 0,-1 0 0,0 1 0,0-1 0,0 1 0,0 0 0,0 0 0,0 1 0,0-1 0,-1 1 0,4 3 0,8 7 0,23 31 0,-24-28 0,-7-8 0,2 3 0,0-2 0,15 14 0,-20-20 0,0 0 0,0 0 0,1-1 0,-1 0 0,0 0 0,1 0 0,-1 0 0,1-1 0,-1 1 0,9 0 0,278 32 0,-52-30 0,-145-5 0,-76 0 0,0-2 0,0 0 0,0-1 0,0-1 0,28-12 0,-10 4 0,-28 11 0,0 0 0,0-1 0,0 0 0,0-1 0,-1 0 0,1 0 0,-1 0 0,0-1 0,0 0 0,-1 0 0,1-1 0,-1 0 0,9-11 0,1-5 0,-9 14 0,0-1 0,-1 0 0,0-1 0,0 1 0,-1-1 0,0 0 0,-1 0 0,0-1 0,0 1 0,3-20 0,-4-8 0,-1 0 0,-5-62 0,2 92-341,-1-1 0,1 1-1,-6-14 1,-2-1-6485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50:03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 24575,'-4'0'0,"-3"6"0,-5 3 0,-3 3 0,-6 3 0,0 1 0,5 2 0,4 2 0,2-1 0,-2-2 0,-1-2 0,1-2-8191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50:06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24575,'-4'3'0,"0"5"0,0 4 0,4 6 0,5 1 0,5 0 0,1 0 0,2 0 0,-1 1 0,0-1 0,2 1 0,2-4 0,-3-1 0,1 0 0,-3-2-8191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51:06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24575,'-14'35'0,"-18"35"0,16-38 0,-14 40 0,23-56 0,0 0 0,-2 0 0,1-1 0,-2 0 0,-12 14 0,-7 12 0,-18 20-1365,36-47-5461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51:0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24575,'1'0'0,"1"0"0,0 0 0,-1 1 0,1-1 0,-1 1 0,1-1 0,-1 1 0,1 0 0,-1-1 0,0 1 0,1 0 0,-1 0 0,0 0 0,0 0 0,1 0 0,0 2 0,18 23 0,-14-16 0,44 57 0,3-2 0,61 58 0,-89-97-455,-2 1 0,21 31 0,-32-42-6371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51:1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24575,'-1'38'0,"1"-8"0,0 0 0,2-1 0,8 48 0,1-22 0,-7-29 0,12 37 0,-9-40 0,-5-16 0,0 0 0,0 0 0,1 0 0,5 10 0,-7-15 0,1 1 0,0-1 0,-1 0 0,1 0 0,0 0 0,0 0 0,0-1 0,0 1 0,1 0 0,-1-1 0,0 0 0,1 1 0,-1-1 0,1 0 0,-1 0 0,5 0 0,-2 0 0,0 0 0,0 0 0,0-1 0,0 0 0,0 0 0,0 0 0,0-1 0,1 0 0,-1 0 0,9-3 0,3-2 0,29-16 0,-3 2 0,-5 3 0,45-28 0,-53 28 0,46-34-1365,-59 39-5461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02:51:15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0 24575,'-1'38'0,"0"-23"0,0 1 0,2-1 0,-1 1 0,2-1 0,0 1 0,1-1 0,0 0 0,9 21 0,-6-20 0,1 1 0,1-1 0,1-1 0,1 1 0,0-1 0,0-1 0,18 19 0,-16-22 0,3 2 0,-1 1 0,0 1 0,15 22 0,-29-37 0,1 1 0,-1 0 0,1-1 0,-1 1 0,1 0 0,-1 0 0,0-1 0,1 1 0,-1 0 0,0 0 0,0 0 0,1-1 0,-1 1 0,0 0 0,0 0 0,0 0 0,0 0 0,0-1 0,0 1 0,0 0 0,-1 0 0,1 0 0,0 0 0,0-1 0,-1 1 0,1 0 0,0 0 0,-1-1 0,0 2 0,0-1 0,-1 1 0,1-1 0,-1 0 0,0 0 0,0 0 0,1 0 0,-1 0 0,0 0 0,0-1 0,0 1 0,0-1 0,-2 1 0,-9 1 0,-1 0 0,-24-1 0,33-1 0,-101-3 0,-76 3 0,56 18-1365,106-17-5461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07:56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 24575,'-1'2'0,"0"0"0,0 0 0,0 0 0,0 0 0,0 0 0,0 0 0,-1 0 0,1 0 0,-4 2 0,-5 10 0,-35 69 0,38-68 0,-1 0 0,0-1 0,-1 0 0,-13 15 0,11-17 0,4-5 0,0 0 0,-11 16 0,17-21 0,0-1 0,0 1 0,0 0 0,0 0 0,0 0 0,0 0 0,1 0 0,-1 0 0,1 0 0,-1 0 0,1 0 0,0 0 0,0 0 0,0 0 0,0 0 0,0 0 0,0 0 0,0 0 0,2 3 0,-1-3 0,0 0 0,0-1 0,0 1 0,0 0 0,1-1 0,-1 0 0,1 1 0,-1-1 0,1 0 0,-1 0 0,1 0 0,0 0 0,-1 0 0,1 0 0,0 0 0,0 0 0,0-1 0,0 1 0,0-1 0,0 1 0,3-1 0,46 2 0,-43-2 0,36-1 0,60 2 0,-52 11-1365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08:03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589 12 24575,'-96'-5'0,"-5"-1"0,65 6 0,-60 10 0,82-8 0,7-1 0,1 0 0,-1 0 0,1 1 0,-1 0 0,1 0 0,0 0 0,-8 5 0,-8 5 0,15-9 0,0 1 0,0 0 0,1 0 0,0 1 0,-1 0 0,-4 5 0,4-3 0,0 1 0,1-1 0,0 1 0,1 0 0,0 1 0,0-1 0,1 1 0,0 0 0,0 0 0,-3 12 0,5-13 0,0 0 0,-1 0 0,0-1 0,-4 8 0,4-9 0,0 0 0,1 0 0,-1 0 0,1 1 0,1-1 0,-3 13 0,-2 28 0,4-30 0,-2 31 0,-2 40 0,6-82 0,0 1 0,0-1 0,0 1 0,1-1 0,0 0 0,0 1 0,0-1 0,4 11 0,1-2 0,-3-7 0,0 0 0,1 0 0,0 0 0,7 9 0,-5-9 0,1 0 0,1 0 0,0-1 0,0 0 0,0 0 0,11 6 0,-8-3 0,9 4 0,5-2 0,-19-9 0,-1 0 0,1 0 0,0-1 0,1 0 0,-1 0 0,0 0 0,1-1 0,-1 0 0,1 0 0,7 0 0,-3-1-1365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08:08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24575,'1'5'0,"-1"-1"0,1 1 0,0-1 0,1 0 0,-1 0 0,1 0 0,-1 0 0,1 0 0,1 0 0,2 5 0,-1-4 0,-1 1 0,0-1 0,-1 1 0,4 10 0,10 23 0,-12-33 0,-1 0 0,0 1 0,-1-1 0,4 13 0,-4-13 0,-1 0 0,2-1 0,-1 1 0,1 0 0,3 6 0,-3-7 0,0 0 0,0 0 0,-1 0 0,0 0 0,0 1 0,2 9 0,-3-10-91,0 0 1,1 0-1,-1-1 0,1 1 0,1-1 0,-1 1 0,0-1 0,6 6 1,-6-6-458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5:08:09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1 24575,'-9'7'0,"0"0"0,0-1 0,0 0 0,-17 9 0,-17 9 0,-23 12 0,40-29 102,22-6-286,1-1 1,0 1 0,0 0-1,0 0 1,0 0 0,0 0-1,-6 3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23:06:05.6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23209,'2894'0'0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23:07:09.1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24368,'4609'35'0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23:08:34.1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24442,'41'3916'0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23:08:49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24012,'0'3864'0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23:09:24.5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24559,'-13'3709'0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23:09:39.6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24370,'83'3744'0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6T14:18:1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24415,'36'7143'0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6T14:19:40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24575,'6'5'0,"1"0"0,0-1 0,0 0 0,1 0 0,-1-1 0,1 0 0,0 0 0,0-1 0,0 0 0,15 2 0,26 8 0,-26-6 0,0 0 0,0-1 0,0-2 0,1 0 0,-1-1 0,1-2 0,0 0 0,-1-2 0,46-8 0,-63 9-105,0-1 0,0 0 0,0 0 0,0 0 0,0-1 0,0 0 0,-1 0 0,1 0 0,-1-1 0,0 1 0,0-1 0,5-6 0,-2 0-6721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9639B-D221-419E-90C2-A3CAC24DBB4D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2EE56-0CF0-4EAD-9983-69A40312F8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06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2EE56-0CF0-4EAD-9983-69A40312F8B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657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DE7489-5650-0247-816A-C371530D3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73FCB6-F471-CFD9-7460-018EC557B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DAD232-9C97-E55E-F1FB-8DF17B3B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A38F86-E147-FC46-D9D6-74F47C5E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99110D-9E47-AB55-AE27-14D3F0A3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62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AE09C-3B76-778F-E2D1-24995304B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E1B259-BD19-D4B8-DFD1-421E473B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E41347-18A9-E6F9-4128-8D3BAF52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C2B3BE-5A76-14D7-5BE6-F9DA27D7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0C9E22-6A9D-9468-4CF0-56914A32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5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63942-4341-0BCD-6121-8F5A20E70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F13059-66E4-DEEC-E559-0E483AAE7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A45FB4-9AC0-EB12-F3AA-2E7BB4DB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D34819-9E4D-B201-FBDD-03ABB2E5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0BF666-6C4A-4309-67A3-3029C6991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35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FE6DDF-DE9D-5C08-6D2D-E90D6EFD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89DDB3-098E-35EE-59FA-76FD69F6A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70D1313-8FE0-6BFD-BD17-4F349D849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4D039E-93CF-45A4-4203-3C72F6B4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D6D99C-9259-0687-843B-D25DC0CC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5CD23-47C0-1F02-1CEE-705F33D0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270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932321-454E-C379-B72D-EEEBAD1C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02004D-8221-78F8-909D-36E9FE6CE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59E2C1-AAA5-F15A-739A-CEC1F7049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E7FE7D1-990C-0A0C-1371-FBFEEFA33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B33063B-143B-8186-344D-E444A0A98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8E1C391-E6C7-1FB8-EACC-2CBA5C2E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B0A3DD-89E3-0715-3A0A-491B7F8D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4625D1-BA03-6368-C382-4562E329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81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3AA25-A58A-B9BC-32C4-35A655FE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15751F9-94D4-D729-C374-8495D6F4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535CFFF-09A1-86DE-4952-B1471EC4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FF88B6-3DD8-BF40-D186-B93CF703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37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A17AE2-069E-F1B9-60D6-69AAD0CB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5920832-400E-FDEE-CB0C-5B9F21F73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9F1569-7195-02B4-F022-FD7275F8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4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0CE25E-BE99-AD76-7F9C-C0C877F3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CFED23-5A65-06B5-5C14-4B59D35F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A4C350-9EEA-99DE-CA1C-0A5146401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1CF42A-2FCB-7AE0-79F5-53D415D1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6603C4C-70E9-658C-EFDA-23B98803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B7E6F8-220A-B4E5-693F-98314AFF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383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F6A33-D5A3-37D5-EFCE-6D7646E9F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839A7F-C7F1-E8F8-2775-E9BA75980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15C70F8-C5C8-FA64-0B18-C6015DFA0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0D294B-58E5-56F1-4B46-88CBEC72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6AECE9-CB2E-54FF-F2A1-2994848C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7CD43E-8812-7EDB-214A-9740B92D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83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22008-7ACF-2416-65C8-0AA5C1BC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CF9540-1A2E-77F2-B533-1FE7BEFFB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31B59A-86C1-6227-1B3E-3A7CAED0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721FA7-B105-BEE2-FFEA-9B543A6F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08505-254E-60C8-75B0-7B146006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3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43CD710-1C5F-A423-3343-098117734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109250-52C5-B61E-BF41-E2273139C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7DA6AA-D1B1-F31E-A652-E3179821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5FCC23-27A9-E711-054C-8E007EB7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86314F-4C92-94E0-C433-7440B9DA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02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CC4195-8372-A8AD-6AAE-035D7806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8FA879-9B00-2FFC-5978-63D580C70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05DC0D-A5F7-A85E-B3C1-F25DBDE2A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7BD2E-17A8-4C05-B1EA-BF56B3BA081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D10995-D6C2-C1BC-D8C4-B39F3A89B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FE01C9-492B-9276-B8BD-C97EDBB23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EA209-F0B5-47DC-8C8B-138D2E9A8A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42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9" Type="http://schemas.openxmlformats.org/officeDocument/2006/relationships/customXml" Target="../ink/ink14.xml"/><Relationship Id="rId3" Type="http://schemas.openxmlformats.org/officeDocument/2006/relationships/customXml" Target="../ink/ink1.xml"/><Relationship Id="rId21" Type="http://schemas.openxmlformats.org/officeDocument/2006/relationships/customXml" Target="../ink/ink7.xml"/><Relationship Id="rId34" Type="http://schemas.openxmlformats.org/officeDocument/2006/relationships/image" Target="../media/image20.png"/><Relationship Id="rId42" Type="http://schemas.openxmlformats.org/officeDocument/2006/relationships/image" Target="../media/image21.png"/><Relationship Id="rId7" Type="http://schemas.openxmlformats.org/officeDocument/2006/relationships/customXml" Target="../ink/ink3.xml"/><Relationship Id="rId25" Type="http://schemas.openxmlformats.org/officeDocument/2006/relationships/customXml" Target="../ink/ink9.xml"/><Relationship Id="rId33" Type="http://schemas.openxmlformats.org/officeDocument/2006/relationships/image" Target="../media/image19.png"/><Relationship Id="rId38" Type="http://schemas.openxmlformats.org/officeDocument/2006/relationships/image" Target="../media/image8.png"/><Relationship Id="rId2" Type="http://schemas.openxmlformats.org/officeDocument/2006/relationships/image" Target="../media/image2.png"/><Relationship Id="rId20" Type="http://schemas.openxmlformats.org/officeDocument/2006/relationships/image" Target="../media/image11.png"/><Relationship Id="rId29" Type="http://schemas.openxmlformats.org/officeDocument/2006/relationships/customXml" Target="../ink/ink11.xml"/><Relationship Id="rId41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8.png"/><Relationship Id="rId37" Type="http://schemas.openxmlformats.org/officeDocument/2006/relationships/customXml" Target="../ink/ink13.xml"/><Relationship Id="rId40" Type="http://schemas.openxmlformats.org/officeDocument/2006/relationships/image" Target="../media/image9.png"/><Relationship Id="rId5" Type="http://schemas.openxmlformats.org/officeDocument/2006/relationships/customXml" Target="../ink/ink2.xml"/><Relationship Id="rId23" Type="http://schemas.openxmlformats.org/officeDocument/2006/relationships/customXml" Target="../ink/ink8.xml"/><Relationship Id="rId28" Type="http://schemas.openxmlformats.org/officeDocument/2006/relationships/image" Target="../media/image15.png"/><Relationship Id="rId36" Type="http://schemas.openxmlformats.org/officeDocument/2006/relationships/image" Target="../media/image7.png"/><Relationship Id="rId10" Type="http://schemas.openxmlformats.org/officeDocument/2006/relationships/image" Target="../media/image6.png"/><Relationship Id="rId19" Type="http://schemas.openxmlformats.org/officeDocument/2006/relationships/customXml" Target="../ink/ink6.xml"/><Relationship Id="rId31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22" Type="http://schemas.openxmlformats.org/officeDocument/2006/relationships/image" Target="../media/image12.png"/><Relationship Id="rId27" Type="http://schemas.openxmlformats.org/officeDocument/2006/relationships/customXml" Target="../ink/ink10.xml"/><Relationship Id="rId30" Type="http://schemas.openxmlformats.org/officeDocument/2006/relationships/image" Target="../media/image16.png"/><Relationship Id="rId35" Type="http://schemas.openxmlformats.org/officeDocument/2006/relationships/customXml" Target="../ink/ink12.xml"/><Relationship Id="rId8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30.png"/><Relationship Id="rId18" Type="http://schemas.openxmlformats.org/officeDocument/2006/relationships/image" Target="../media/image34.png"/><Relationship Id="rId3" Type="http://schemas.openxmlformats.org/officeDocument/2006/relationships/image" Target="../media/image25.png"/><Relationship Id="rId21" Type="http://schemas.openxmlformats.org/officeDocument/2006/relationships/image" Target="../media/image37.png"/><Relationship Id="rId7" Type="http://schemas.openxmlformats.org/officeDocument/2006/relationships/image" Target="../media/image27.png"/><Relationship Id="rId12" Type="http://schemas.openxmlformats.org/officeDocument/2006/relationships/customXml" Target="../ink/ink20.xml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customXml" Target="../ink/ink19.xml"/><Relationship Id="rId19" Type="http://schemas.openxmlformats.org/officeDocument/2006/relationships/image" Target="../media/image35.png"/><Relationship Id="rId4" Type="http://schemas.openxmlformats.org/officeDocument/2006/relationships/customXml" Target="../ink/ink16.xml"/><Relationship Id="rId9" Type="http://schemas.openxmlformats.org/officeDocument/2006/relationships/image" Target="../media/image28.png"/><Relationship Id="rId14" Type="http://schemas.openxmlformats.org/officeDocument/2006/relationships/customXml" Target="../ink/ink21.xml"/><Relationship Id="rId22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customXml" Target="../ink/ink22.xml"/><Relationship Id="rId7" Type="http://schemas.openxmlformats.org/officeDocument/2006/relationships/image" Target="../media/image30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customXml" Target="../ink/ink23.xml"/><Relationship Id="rId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F81DED-DCA3-1752-A8DB-AA0732ED2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Intensity as a function of refractive index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AA194D7-2DD0-9805-297F-D6FE2A672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the wave number of fundamental frequency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is the wave number of second-harmonic frequency.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altLang="zh-TW" dirty="0"/>
                  <a:t> is the thickness of BBO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zh-TW" altLang="en-US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</m:den>
                    </m:f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𝑠𝑖𝑛𝑐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TW" altLang="en-US" dirty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𝑠𝑖𝑛𝑐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TW" altLang="en-US" b="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b="0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AA194D7-2DD0-9805-297F-D6FE2A672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68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B24CB-9181-5016-5C68-6EF9955EB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relation of BBO angles and intensity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9F2B0A-F5C4-B601-9F41-D8A6FB61DE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𝑠𝑖𝑛𝑐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zh-TW" altLang="en-US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TW" dirty="0"/>
              </a:p>
              <a:p>
                <a:r>
                  <a:rPr lang="en-US" altLang="zh-TW" dirty="0"/>
                  <a:t>Rotating Crystal</a:t>
                </a:r>
              </a:p>
              <a:p>
                <a:pPr lvl="1"/>
                <a:r>
                  <a:rPr lang="en-US" altLang="zh-TW" dirty="0"/>
                  <a:t>Rotating crystal and changing incident angle is equivalent.</a:t>
                </a:r>
              </a:p>
              <a:p>
                <a:pPr lvl="1"/>
                <a:r>
                  <a:rPr lang="en-US" altLang="zh-TW" dirty="0"/>
                  <a:t>We can get refractive index by rotating the BBO’s index ellipsoid.</a:t>
                </a:r>
              </a:p>
              <a:p>
                <a:pPr lvl="1"/>
                <a:r>
                  <a:rPr lang="en-US" altLang="zh-TW" dirty="0"/>
                  <a:t>Define the rotation sequence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TW" dirty="0"/>
                  <a:t>. </a:t>
                </a:r>
              </a:p>
              <a:p>
                <a:r>
                  <a:rPr lang="en-US" altLang="zh-TW" dirty="0"/>
                  <a:t>Waves</a:t>
                </a:r>
              </a:p>
              <a:p>
                <a:pPr lvl="1"/>
                <a:r>
                  <a:rPr lang="en-US" altLang="zh-TW" dirty="0"/>
                  <a:t>Assume the in-coming light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TW" dirty="0"/>
                  <a:t>) is propagating in the z-direction.</a:t>
                </a:r>
              </a:p>
              <a:p>
                <a:pPr lvl="1"/>
                <a:r>
                  <a:rPr lang="en-US" altLang="zh-TW" dirty="0"/>
                  <a:t>SHG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is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a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collinear geometry. Thus, we expect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altLang="zh-TW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TW" dirty="0"/>
                  <a:t>.</a:t>
                </a:r>
              </a:p>
              <a:p>
                <a:pPr lvl="1"/>
                <a:r>
                  <a:rPr lang="en-US" altLang="zh-TW" dirty="0"/>
                  <a:t>Solving for the intersection of index ellipsoid with the line defined by its polarization gives its refractive index 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1"/>
                <a:endParaRPr lang="en-US" altLang="zh-TW" dirty="0"/>
              </a:p>
              <a:p>
                <a:r>
                  <a:rPr lang="en-US" altLang="zh-TW" dirty="0"/>
                  <a:t>We can know how rotating different angles of BBO, that is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TW" dirty="0"/>
                  <a:t>, affect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𝑠𝑖𝑛𝑐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zh-TW" alt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/2)</m:t>
                    </m:r>
                  </m:oMath>
                </a14:m>
                <a:r>
                  <a:rPr lang="en-US" altLang="zh-TW" dirty="0"/>
                  <a:t>, and we can insert the real data of BBO and laser to explain the beam shape</a:t>
                </a: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9F2B0A-F5C4-B601-9F41-D8A6FB61D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61BD919B-968C-83D8-573E-4CCFD944E031}"/>
                  </a:ext>
                </a:extLst>
              </p14:cNvPr>
              <p14:cNvContentPartPr/>
              <p14:nvPr/>
            </p14:nvContentPartPr>
            <p14:xfrm>
              <a:off x="8927844" y="1583898"/>
              <a:ext cx="63360" cy="1494000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61BD919B-968C-83D8-573E-4CCFD944E0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18844" y="1574898"/>
                <a:ext cx="81000" cy="15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FCB724A3-0501-5BF7-D7C5-F7993D8F4BC4}"/>
                  </a:ext>
                </a:extLst>
              </p14:cNvPr>
              <p14:cNvContentPartPr/>
              <p14:nvPr/>
            </p14:nvContentPartPr>
            <p14:xfrm>
              <a:off x="8368750" y="3077898"/>
              <a:ext cx="614880" cy="98460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FCB724A3-0501-5BF7-D7C5-F7993D8F4B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60110" y="3068898"/>
                <a:ext cx="632520" cy="10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C472362E-E707-6A72-6627-FD888C8F5883}"/>
                  </a:ext>
                </a:extLst>
              </p14:cNvPr>
              <p14:cNvContentPartPr/>
              <p14:nvPr/>
            </p14:nvContentPartPr>
            <p14:xfrm>
              <a:off x="9004150" y="3085098"/>
              <a:ext cx="1082520" cy="79632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C472362E-E707-6A72-6627-FD888C8F58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95150" y="3076098"/>
                <a:ext cx="1100160" cy="81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ECC3C3F2-6AEB-04B3-49CE-A95E8DB3AC72}"/>
                  </a:ext>
                </a:extLst>
              </p14:cNvPr>
              <p14:cNvContentPartPr/>
              <p14:nvPr/>
            </p14:nvContentPartPr>
            <p14:xfrm>
              <a:off x="8285230" y="3769098"/>
              <a:ext cx="317160" cy="343440"/>
            </p14:xfrm>
          </p:contentPart>
        </mc:Choice>
        <mc:Fallback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ECC3C3F2-6AEB-04B3-49CE-A95E8DB3AC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79110" y="3762978"/>
                <a:ext cx="32940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429999FD-C216-BFDA-C6D7-4F0007EBDF78}"/>
                  </a:ext>
                </a:extLst>
              </p14:cNvPr>
              <p14:cNvContentPartPr/>
              <p14:nvPr/>
            </p14:nvContentPartPr>
            <p14:xfrm>
              <a:off x="8746030" y="1812498"/>
              <a:ext cx="441360" cy="184320"/>
            </p14:xfrm>
          </p:contentPart>
        </mc:Choice>
        <mc:Fallback xmlns=""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429999FD-C216-BFDA-C6D7-4F0007EBDF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39910" y="1806378"/>
                <a:ext cx="45360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6618BE3E-02A7-36A8-1930-12D5431AFF62}"/>
              </a:ext>
            </a:extLst>
          </p:cNvPr>
          <p:cNvGrpSpPr/>
          <p:nvPr/>
        </p:nvGrpSpPr>
        <p:grpSpPr>
          <a:xfrm>
            <a:off x="9129790" y="1842378"/>
            <a:ext cx="127440" cy="84960"/>
            <a:chOff x="9129790" y="1842378"/>
            <a:chExt cx="127440" cy="8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筆跡 26">
                  <a:extLst>
                    <a:ext uri="{FF2B5EF4-FFF2-40B4-BE49-F238E27FC236}">
                      <a16:creationId xmlns:a16="http://schemas.microsoft.com/office/drawing/2014/main" id="{9D598894-FCAC-5341-7CDC-773811A26845}"/>
                    </a:ext>
                  </a:extLst>
                </p14:cNvPr>
                <p14:cNvContentPartPr/>
                <p14:nvPr/>
              </p14:nvContentPartPr>
              <p14:xfrm>
                <a:off x="9129790" y="1842378"/>
                <a:ext cx="56160" cy="5796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9D598894-FCAC-5341-7CDC-773811A268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23670" y="1836258"/>
                  <a:ext cx="68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4EC7E135-3BAA-3C5C-71D3-7CE1F94DAE11}"/>
                    </a:ext>
                  </a:extLst>
                </p14:cNvPr>
                <p14:cNvContentPartPr/>
                <p14:nvPr/>
              </p14:nvContentPartPr>
              <p14:xfrm>
                <a:off x="9209350" y="1842378"/>
                <a:ext cx="47880" cy="84960"/>
              </p14:xfrm>
            </p:contentPart>
          </mc:Choice>
          <mc:Fallback xmlns="">
            <p:pic>
              <p:nvPicPr>
                <p:cNvPr id="28" name="筆跡 27">
                  <a:extLst>
                    <a:ext uri="{FF2B5EF4-FFF2-40B4-BE49-F238E27FC236}">
                      <a16:creationId xmlns:a16="http://schemas.microsoft.com/office/drawing/2014/main" id="{4EC7E135-3BAA-3C5C-71D3-7CE1F94DAE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03230" y="1836258"/>
                  <a:ext cx="6012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C8F2954D-BD33-3BFD-DB27-499C0448A152}"/>
              </a:ext>
            </a:extLst>
          </p:cNvPr>
          <p:cNvGrpSpPr/>
          <p:nvPr/>
        </p:nvGrpSpPr>
        <p:grpSpPr>
          <a:xfrm>
            <a:off x="8847190" y="1584618"/>
            <a:ext cx="249480" cy="169200"/>
            <a:chOff x="8847190" y="1584618"/>
            <a:chExt cx="24948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筆跡 29">
                  <a:extLst>
                    <a:ext uri="{FF2B5EF4-FFF2-40B4-BE49-F238E27FC236}">
                      <a16:creationId xmlns:a16="http://schemas.microsoft.com/office/drawing/2014/main" id="{A4D40FAE-9D7C-90C5-1609-41A3A53EC609}"/>
                    </a:ext>
                  </a:extLst>
                </p14:cNvPr>
                <p14:cNvContentPartPr/>
                <p14:nvPr/>
              </p14:nvContentPartPr>
              <p14:xfrm>
                <a:off x="8847190" y="1584618"/>
                <a:ext cx="87480" cy="155880"/>
              </p14:xfrm>
            </p:contentPart>
          </mc:Choice>
          <mc:Fallback xmlns=""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A4D40FAE-9D7C-90C5-1609-41A3A53EC60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838550" y="1575618"/>
                  <a:ext cx="105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筆跡 30">
                  <a:extLst>
                    <a:ext uri="{FF2B5EF4-FFF2-40B4-BE49-F238E27FC236}">
                      <a16:creationId xmlns:a16="http://schemas.microsoft.com/office/drawing/2014/main" id="{C0D230CA-4AB1-7F21-99DD-973367967055}"/>
                    </a:ext>
                  </a:extLst>
                </p14:cNvPr>
                <p14:cNvContentPartPr/>
                <p14:nvPr/>
              </p14:nvContentPartPr>
              <p14:xfrm>
                <a:off x="8962390" y="1598298"/>
                <a:ext cx="134280" cy="15552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C0D230CA-4AB1-7F21-99DD-97336796705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953750" y="1589658"/>
                  <a:ext cx="15192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筆跡 32">
                <a:extLst>
                  <a:ext uri="{FF2B5EF4-FFF2-40B4-BE49-F238E27FC236}">
                    <a16:creationId xmlns:a16="http://schemas.microsoft.com/office/drawing/2014/main" id="{D7C0F169-C71D-0190-83EB-1FC83471AFE8}"/>
                  </a:ext>
                </a:extLst>
              </p14:cNvPr>
              <p14:cNvContentPartPr/>
              <p14:nvPr/>
            </p14:nvContentPartPr>
            <p14:xfrm>
              <a:off x="8319790" y="3950538"/>
              <a:ext cx="188280" cy="161280"/>
            </p14:xfrm>
          </p:contentPart>
        </mc:Choice>
        <mc:Fallback xmlns="">
          <p:pic>
            <p:nvPicPr>
              <p:cNvPr id="33" name="筆跡 32">
                <a:extLst>
                  <a:ext uri="{FF2B5EF4-FFF2-40B4-BE49-F238E27FC236}">
                    <a16:creationId xmlns:a16="http://schemas.microsoft.com/office/drawing/2014/main" id="{D7C0F169-C71D-0190-83EB-1FC83471AFE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11150" y="3941538"/>
                <a:ext cx="205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筆跡 33">
                <a:extLst>
                  <a:ext uri="{FF2B5EF4-FFF2-40B4-BE49-F238E27FC236}">
                    <a16:creationId xmlns:a16="http://schemas.microsoft.com/office/drawing/2014/main" id="{844ADBAB-96F1-002A-6CB4-DC6AB1307D39}"/>
                  </a:ext>
                </a:extLst>
              </p14:cNvPr>
              <p14:cNvContentPartPr/>
              <p14:nvPr/>
            </p14:nvContentPartPr>
            <p14:xfrm>
              <a:off x="9937270" y="3755058"/>
              <a:ext cx="192240" cy="174960"/>
            </p14:xfrm>
          </p:contentPart>
        </mc:Choice>
        <mc:Fallback xmlns="">
          <p:pic>
            <p:nvPicPr>
              <p:cNvPr id="34" name="筆跡 33">
                <a:extLst>
                  <a:ext uri="{FF2B5EF4-FFF2-40B4-BE49-F238E27FC236}">
                    <a16:creationId xmlns:a16="http://schemas.microsoft.com/office/drawing/2014/main" id="{844ADBAB-96F1-002A-6CB4-DC6AB1307D3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928630" y="3746058"/>
                <a:ext cx="2098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EB000AC1-7ED2-AE5B-44A1-4C66F334E296}"/>
                  </a:ext>
                </a:extLst>
              </p:cNvPr>
              <p:cNvSpPr txBox="1"/>
              <p:nvPr/>
            </p:nvSpPr>
            <p:spPr>
              <a:xfrm>
                <a:off x="7887572" y="1598298"/>
                <a:ext cx="714817" cy="687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Z-axis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EB000AC1-7ED2-AE5B-44A1-4C66F334E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572" y="1598298"/>
                <a:ext cx="714817" cy="687304"/>
              </a:xfrm>
              <a:prstGeom prst="rect">
                <a:avLst/>
              </a:prstGeom>
              <a:blipFill>
                <a:blip r:embed="rId31"/>
                <a:stretch>
                  <a:fillRect l="-7692" t="-4425" r="-6838" b="-132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53136ADA-1006-B1A3-63B9-FC8945606DC3}"/>
              </a:ext>
            </a:extLst>
          </p:cNvPr>
          <p:cNvSpPr txBox="1"/>
          <p:nvPr/>
        </p:nvSpPr>
        <p:spPr>
          <a:xfrm>
            <a:off x="10336150" y="3756152"/>
            <a:ext cx="94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Y-axis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BCB8AF3-F52B-2280-807A-3C8E37D54904}"/>
              </a:ext>
            </a:extLst>
          </p:cNvPr>
          <p:cNvSpPr txBox="1"/>
          <p:nvPr/>
        </p:nvSpPr>
        <p:spPr>
          <a:xfrm>
            <a:off x="7502710" y="3816628"/>
            <a:ext cx="825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X-axis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4F0583D-1D22-922B-BE37-2298BF110DFA}"/>
                  </a:ext>
                </a:extLst>
              </p:cNvPr>
              <p:cNvSpPr txBox="1"/>
              <p:nvPr/>
            </p:nvSpPr>
            <p:spPr>
              <a:xfrm>
                <a:off x="7779860" y="3445400"/>
                <a:ext cx="584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4F0583D-1D22-922B-BE37-2298BF110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860" y="3445400"/>
                <a:ext cx="5841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84341352-94DC-D381-0731-AB6F371F0ED1}"/>
                  </a:ext>
                </a:extLst>
              </p:cNvPr>
              <p:cNvSpPr txBox="1"/>
              <p:nvPr/>
            </p:nvSpPr>
            <p:spPr>
              <a:xfrm>
                <a:off x="10187648" y="3328012"/>
                <a:ext cx="2970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84341352-94DC-D381-0731-AB6F371F0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648" y="3328012"/>
                <a:ext cx="297004" cy="369332"/>
              </a:xfrm>
              <a:prstGeom prst="rect">
                <a:avLst/>
              </a:prstGeom>
              <a:blipFill>
                <a:blip r:embed="rId33"/>
                <a:stretch>
                  <a:fillRect r="-2041"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BC87FF0F-3DD0-204D-5569-79999516246D}"/>
                  </a:ext>
                </a:extLst>
              </p:cNvPr>
              <p:cNvSpPr txBox="1"/>
              <p:nvPr/>
            </p:nvSpPr>
            <p:spPr>
              <a:xfrm>
                <a:off x="9151576" y="1583898"/>
                <a:ext cx="663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BC87FF0F-3DD0-204D-5569-799995162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576" y="1583898"/>
                <a:ext cx="663114" cy="369332"/>
              </a:xfrm>
              <a:prstGeom prst="rect">
                <a:avLst/>
              </a:prstGeom>
              <a:blipFill>
                <a:blip r:embed="rId3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F6D7755D-786B-3DF2-0F28-0C36325EA611}"/>
                  </a:ext>
                </a:extLst>
              </p14:cNvPr>
              <p14:cNvContentPartPr/>
              <p14:nvPr/>
            </p14:nvContentPartPr>
            <p14:xfrm>
              <a:off x="8237977" y="3708113"/>
              <a:ext cx="108360" cy="120960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F6D7755D-786B-3DF2-0F28-0C36325EA61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31857" y="3701993"/>
                <a:ext cx="1206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6C1C795-A6C2-ED49-B4EB-4F870E68C47D}"/>
                  </a:ext>
                </a:extLst>
              </p14:cNvPr>
              <p14:cNvContentPartPr/>
              <p14:nvPr/>
            </p14:nvContentPartPr>
            <p14:xfrm>
              <a:off x="9748897" y="3587513"/>
              <a:ext cx="212040" cy="262800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6C1C795-A6C2-ED49-B4EB-4F870E68C47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42777" y="3581393"/>
                <a:ext cx="22428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A4433BD8-8052-19E5-9E02-0515CC576A0C}"/>
              </a:ext>
            </a:extLst>
          </p:cNvPr>
          <p:cNvGrpSpPr/>
          <p:nvPr/>
        </p:nvGrpSpPr>
        <p:grpSpPr>
          <a:xfrm>
            <a:off x="9769057" y="3750593"/>
            <a:ext cx="82080" cy="157320"/>
            <a:chOff x="9769057" y="3750593"/>
            <a:chExt cx="82080" cy="1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C5592A1B-07AF-1D4E-0336-0FC208BDF559}"/>
                    </a:ext>
                  </a:extLst>
                </p14:cNvPr>
                <p14:cNvContentPartPr/>
                <p14:nvPr/>
              </p14:nvContentPartPr>
              <p14:xfrm>
                <a:off x="9802177" y="3750593"/>
                <a:ext cx="47520" cy="11160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C5592A1B-07AF-1D4E-0336-0FC208BDF55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96057" y="3744473"/>
                  <a:ext cx="597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9F171CD4-9284-4BCD-3F99-A3729B9D7116}"/>
                    </a:ext>
                  </a:extLst>
                </p14:cNvPr>
                <p14:cNvContentPartPr/>
                <p14:nvPr/>
              </p14:nvContentPartPr>
              <p14:xfrm>
                <a:off x="9769057" y="3864713"/>
                <a:ext cx="82080" cy="4320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9F171CD4-9284-4BCD-3F99-A3729B9D711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62937" y="3858593"/>
                  <a:ext cx="94320" cy="5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450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7319B7-BE33-32D2-AF6D-400CA047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parameter of BBO and laser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0726FA5-5740-0A1F-100F-13A0F2B82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/>
                  <a:t>Sellmeier equations (λ, </a:t>
                </a:r>
                <a:r>
                  <a:rPr lang="en-US" altLang="zh-TW" dirty="0" err="1"/>
                  <a:t>μm</a:t>
                </a:r>
                <a:r>
                  <a:rPr lang="en-US" altLang="zh-TW" dirty="0"/>
                  <a:t>) of BBO is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The fundamental frequency laser is 1030 nm = 1.03 </a:t>
                </a:r>
                <a:r>
                  <a:rPr lang="en-US" altLang="zh-TW" dirty="0" err="1"/>
                  <a:t>μm</a:t>
                </a:r>
                <a:r>
                  <a:rPr lang="en-US" altLang="zh-TW" dirty="0"/>
                  <a:t>, and the second-harmonic frequency laser is 515nm = 0.515 </a:t>
                </a:r>
                <a:r>
                  <a:rPr lang="en-US" altLang="zh-TW" dirty="0" err="1"/>
                  <a:t>μm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The thickness of BBO is 1500 </a:t>
                </a:r>
                <a:r>
                  <a:rPr lang="en-US" altLang="zh-TW" dirty="0" err="1"/>
                  <a:t>μm</a:t>
                </a:r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=1.65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=1.54  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1.67 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=1.55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0726FA5-5740-0A1F-100F-13A0F2B82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B4377DB3-C195-0720-3877-7BAE5F21F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15" y="2430376"/>
            <a:ext cx="9412491" cy="875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C754ECA1-883E-4622-B20F-7B0430A97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492" y="526797"/>
            <a:ext cx="2994395" cy="190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5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5A235B2-8DE0-B67A-A5FD-DDA7A3C2215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rotating angles impact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5A235B2-8DE0-B67A-A5FD-DDA7A3C22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143B297-2F89-D3F2-3EAD-C93B4322C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8694"/>
            <a:ext cx="10515600" cy="3505199"/>
          </a:xfrm>
        </p:spPr>
      </p:pic>
    </p:spTree>
    <p:extLst>
      <p:ext uri="{BB962C8B-B14F-4D97-AF65-F5344CB8AC3E}">
        <p14:creationId xmlns:p14="http://schemas.microsoft.com/office/powerpoint/2010/main" val="115623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0B302A-6821-FE74-7EBF-68DFAA21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rotating angles impact on intensity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976D393-D91C-5BA8-B810-3DC0FFD7EEC8}"/>
              </a:ext>
            </a:extLst>
          </p:cNvPr>
          <p:cNvSpPr txBox="1"/>
          <p:nvPr/>
        </p:nvSpPr>
        <p:spPr>
          <a:xfrm>
            <a:off x="1098549" y="1600359"/>
            <a:ext cx="99673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The red line represents half intensity for comparing their impact</a:t>
            </a:r>
          </a:p>
          <a:p>
            <a:r>
              <a:rPr lang="en-US" altLang="zh-TW" sz="2800" dirty="0"/>
              <a:t>The green line represents the first zero intensity beside center </a:t>
            </a:r>
            <a:endParaRPr lang="zh-TW" altLang="en-US" sz="28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A0C867DA-C0E6-1CD9-82E1-29DF4BC1B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2651756"/>
            <a:ext cx="10972822" cy="36576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筆跡 26">
                <a:extLst>
                  <a:ext uri="{FF2B5EF4-FFF2-40B4-BE49-F238E27FC236}">
                    <a16:creationId xmlns:a16="http://schemas.microsoft.com/office/drawing/2014/main" id="{3F3939BE-22F1-379C-608F-64C4D0525264}"/>
                  </a:ext>
                </a:extLst>
              </p14:cNvPr>
              <p14:cNvContentPartPr/>
              <p14:nvPr/>
            </p14:nvContentPartPr>
            <p14:xfrm>
              <a:off x="5816560" y="4429400"/>
              <a:ext cx="1041840" cy="720"/>
            </p14:xfrm>
          </p:contentPart>
        </mc:Choice>
        <mc:Fallback xmlns="">
          <p:pic>
            <p:nvPicPr>
              <p:cNvPr id="27" name="筆跡 26">
                <a:extLst>
                  <a:ext uri="{FF2B5EF4-FFF2-40B4-BE49-F238E27FC236}">
                    <a16:creationId xmlns:a16="http://schemas.microsoft.com/office/drawing/2014/main" id="{3F3939BE-22F1-379C-608F-64C4D05252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10440" y="4417160"/>
                <a:ext cx="1054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筆跡 36">
                <a:extLst>
                  <a:ext uri="{FF2B5EF4-FFF2-40B4-BE49-F238E27FC236}">
                    <a16:creationId xmlns:a16="http://schemas.microsoft.com/office/drawing/2014/main" id="{4F49CF1C-06AE-D6AD-937D-83D1D4FECC81}"/>
                  </a:ext>
                </a:extLst>
              </p14:cNvPr>
              <p14:cNvContentPartPr/>
              <p14:nvPr/>
            </p14:nvContentPartPr>
            <p14:xfrm>
              <a:off x="9057070" y="4372830"/>
              <a:ext cx="1659600" cy="12960"/>
            </p14:xfrm>
          </p:contentPart>
        </mc:Choice>
        <mc:Fallback xmlns="">
          <p:pic>
            <p:nvPicPr>
              <p:cNvPr id="37" name="筆跡 36">
                <a:extLst>
                  <a:ext uri="{FF2B5EF4-FFF2-40B4-BE49-F238E27FC236}">
                    <a16:creationId xmlns:a16="http://schemas.microsoft.com/office/drawing/2014/main" id="{4F49CF1C-06AE-D6AD-937D-83D1D4FECC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50950" y="4366710"/>
                <a:ext cx="16718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筆跡 40">
                <a:extLst>
                  <a:ext uri="{FF2B5EF4-FFF2-40B4-BE49-F238E27FC236}">
                    <a16:creationId xmlns:a16="http://schemas.microsoft.com/office/drawing/2014/main" id="{DBB82C7A-F1E0-8F8B-9365-5897F9134A99}"/>
                  </a:ext>
                </a:extLst>
              </p14:cNvPr>
              <p14:cNvContentPartPr/>
              <p14:nvPr/>
            </p14:nvContentPartPr>
            <p14:xfrm>
              <a:off x="9054910" y="4383543"/>
              <a:ext cx="15120" cy="1410120"/>
            </p14:xfrm>
          </p:contentPart>
        </mc:Choice>
        <mc:Fallback xmlns="">
          <p:pic>
            <p:nvPicPr>
              <p:cNvPr id="41" name="筆跡 40">
                <a:extLst>
                  <a:ext uri="{FF2B5EF4-FFF2-40B4-BE49-F238E27FC236}">
                    <a16:creationId xmlns:a16="http://schemas.microsoft.com/office/drawing/2014/main" id="{DBB82C7A-F1E0-8F8B-9365-5897F9134A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48790" y="4377423"/>
                <a:ext cx="27360" cy="14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3" name="筆跡 42">
                <a:extLst>
                  <a:ext uri="{FF2B5EF4-FFF2-40B4-BE49-F238E27FC236}">
                    <a16:creationId xmlns:a16="http://schemas.microsoft.com/office/drawing/2014/main" id="{FBDB8443-9260-631F-3391-FB8459B8603A}"/>
                  </a:ext>
                </a:extLst>
              </p14:cNvPr>
              <p14:cNvContentPartPr/>
              <p14:nvPr/>
            </p14:nvContentPartPr>
            <p14:xfrm>
              <a:off x="10726750" y="4400103"/>
              <a:ext cx="720" cy="1391400"/>
            </p14:xfrm>
          </p:contentPart>
        </mc:Choice>
        <mc:Fallback xmlns="">
          <p:pic>
            <p:nvPicPr>
              <p:cNvPr id="43" name="筆跡 42">
                <a:extLst>
                  <a:ext uri="{FF2B5EF4-FFF2-40B4-BE49-F238E27FC236}">
                    <a16:creationId xmlns:a16="http://schemas.microsoft.com/office/drawing/2014/main" id="{FBDB8443-9260-631F-3391-FB8459B8603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714510" y="4393983"/>
                <a:ext cx="25200" cy="14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5" name="筆跡 44">
                <a:extLst>
                  <a:ext uri="{FF2B5EF4-FFF2-40B4-BE49-F238E27FC236}">
                    <a16:creationId xmlns:a16="http://schemas.microsoft.com/office/drawing/2014/main" id="{5B348F7D-B68D-85F5-004F-2314CEA4CDBC}"/>
                  </a:ext>
                </a:extLst>
              </p14:cNvPr>
              <p14:cNvContentPartPr/>
              <p14:nvPr/>
            </p14:nvContentPartPr>
            <p14:xfrm>
              <a:off x="5806880" y="4428920"/>
              <a:ext cx="5040" cy="1335600"/>
            </p14:xfrm>
          </p:contentPart>
        </mc:Choice>
        <mc:Fallback xmlns="">
          <p:pic>
            <p:nvPicPr>
              <p:cNvPr id="45" name="筆跡 44">
                <a:extLst>
                  <a:ext uri="{FF2B5EF4-FFF2-40B4-BE49-F238E27FC236}">
                    <a16:creationId xmlns:a16="http://schemas.microsoft.com/office/drawing/2014/main" id="{5B348F7D-B68D-85F5-004F-2314CEA4CD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00760" y="4422800"/>
                <a:ext cx="17280" cy="13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筆跡 46">
                <a:extLst>
                  <a:ext uri="{FF2B5EF4-FFF2-40B4-BE49-F238E27FC236}">
                    <a16:creationId xmlns:a16="http://schemas.microsoft.com/office/drawing/2014/main" id="{8E2330C8-3B19-49BB-79D5-82447FDBE0AE}"/>
                  </a:ext>
                </a:extLst>
              </p14:cNvPr>
              <p14:cNvContentPartPr/>
              <p14:nvPr/>
            </p14:nvContentPartPr>
            <p14:xfrm>
              <a:off x="6859520" y="4428920"/>
              <a:ext cx="30240" cy="1348200"/>
            </p14:xfrm>
          </p:contentPart>
        </mc:Choice>
        <mc:Fallback xmlns="">
          <p:pic>
            <p:nvPicPr>
              <p:cNvPr id="47" name="筆跡 46">
                <a:extLst>
                  <a:ext uri="{FF2B5EF4-FFF2-40B4-BE49-F238E27FC236}">
                    <a16:creationId xmlns:a16="http://schemas.microsoft.com/office/drawing/2014/main" id="{8E2330C8-3B19-49BB-79D5-82447FDBE0A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53400" y="4422800"/>
                <a:ext cx="42480" cy="1360440"/>
              </a:xfrm>
              <a:prstGeom prst="rect">
                <a:avLst/>
              </a:prstGeom>
            </p:spPr>
          </p:pic>
        </mc:Fallback>
      </mc:AlternateContent>
      <p:cxnSp>
        <p:nvCxnSpPr>
          <p:cNvPr id="48" name="Google Shape;388;p45">
            <a:extLst>
              <a:ext uri="{FF2B5EF4-FFF2-40B4-BE49-F238E27FC236}">
                <a16:creationId xmlns:a16="http://schemas.microsoft.com/office/drawing/2014/main" id="{7E6A1EED-F59A-39B5-8554-A1CA0193A368}"/>
              </a:ext>
            </a:extLst>
          </p:cNvPr>
          <p:cNvCxnSpPr>
            <a:cxnSpLocks/>
          </p:cNvCxnSpPr>
          <p:nvPr/>
        </p:nvCxnSpPr>
        <p:spPr>
          <a:xfrm>
            <a:off x="5556198" y="5653611"/>
            <a:ext cx="0" cy="122329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388;p45">
            <a:extLst>
              <a:ext uri="{FF2B5EF4-FFF2-40B4-BE49-F238E27FC236}">
                <a16:creationId xmlns:a16="http://schemas.microsoft.com/office/drawing/2014/main" id="{79D45B2D-FCA5-F423-50CA-777D777AD716}"/>
              </a:ext>
            </a:extLst>
          </p:cNvPr>
          <p:cNvCxnSpPr>
            <a:cxnSpLocks/>
          </p:cNvCxnSpPr>
          <p:nvPr/>
        </p:nvCxnSpPr>
        <p:spPr>
          <a:xfrm flipH="1">
            <a:off x="7104755" y="5653611"/>
            <a:ext cx="2927" cy="122329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388;p45">
            <a:extLst>
              <a:ext uri="{FF2B5EF4-FFF2-40B4-BE49-F238E27FC236}">
                <a16:creationId xmlns:a16="http://schemas.microsoft.com/office/drawing/2014/main" id="{066CDE49-5B75-A53F-A941-226BD00FBFA8}"/>
              </a:ext>
            </a:extLst>
          </p:cNvPr>
          <p:cNvCxnSpPr>
            <a:cxnSpLocks/>
          </p:cNvCxnSpPr>
          <p:nvPr/>
        </p:nvCxnSpPr>
        <p:spPr>
          <a:xfrm>
            <a:off x="11147380" y="5667993"/>
            <a:ext cx="0" cy="12351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388;p45">
            <a:extLst>
              <a:ext uri="{FF2B5EF4-FFF2-40B4-BE49-F238E27FC236}">
                <a16:creationId xmlns:a16="http://schemas.microsoft.com/office/drawing/2014/main" id="{90DF21FB-CFB5-1BFC-D830-61CCEB52D65D}"/>
              </a:ext>
            </a:extLst>
          </p:cNvPr>
          <p:cNvCxnSpPr>
            <a:cxnSpLocks/>
          </p:cNvCxnSpPr>
          <p:nvPr/>
        </p:nvCxnSpPr>
        <p:spPr>
          <a:xfrm>
            <a:off x="8625371" y="5652431"/>
            <a:ext cx="5040" cy="123509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648C55C7-9049-1461-E8E6-43F96EF74D39}"/>
                  </a:ext>
                </a:extLst>
              </p:cNvPr>
              <p:cNvSpPr txBox="1"/>
              <p:nvPr/>
            </p:nvSpPr>
            <p:spPr>
              <a:xfrm>
                <a:off x="5498250" y="5976932"/>
                <a:ext cx="61726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900" b="0" i="1" smtClean="0">
                          <a:latin typeface="Cambria Math" panose="02040503050406030204" pitchFamily="18" charset="0"/>
                        </a:rPr>
                        <m:t>−2.18</m:t>
                      </m:r>
                      <m:r>
                        <a:rPr lang="en-US" altLang="zh-TW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TW" altLang="en-US" sz="9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648C55C7-9049-1461-E8E6-43F96EF74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250" y="5976932"/>
                <a:ext cx="617260" cy="2308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A971499-E3A6-88C7-D181-5F96D053CCD5}"/>
                  </a:ext>
                </a:extLst>
              </p:cNvPr>
              <p:cNvSpPr txBox="1"/>
              <p:nvPr/>
            </p:nvSpPr>
            <p:spPr>
              <a:xfrm>
                <a:off x="6664363" y="5980631"/>
                <a:ext cx="420554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2.18</m:t>
                      </m:r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zh-TW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A971499-E3A6-88C7-D181-5F96D053C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4363" y="5980631"/>
                <a:ext cx="420554" cy="2308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E390B9F6-96C8-41FD-3F65-03E770ED7278}"/>
                  </a:ext>
                </a:extLst>
              </p:cNvPr>
              <p:cNvSpPr txBox="1"/>
              <p:nvPr/>
            </p:nvSpPr>
            <p:spPr>
              <a:xfrm>
                <a:off x="5292510" y="6207764"/>
                <a:ext cx="4114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−3.27</m:t>
                      </m:r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zh-TW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E390B9F6-96C8-41FD-3F65-03E770ED7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510" y="6207764"/>
                <a:ext cx="411480" cy="230832"/>
              </a:xfrm>
              <a:prstGeom prst="rect">
                <a:avLst/>
              </a:prstGeom>
              <a:blipFill>
                <a:blip r:embed="rId18"/>
                <a:stretch>
                  <a:fillRect r="-16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7A722DF1-BC53-09FD-ADE4-5DACD63677A7}"/>
                  </a:ext>
                </a:extLst>
              </p:cNvPr>
              <p:cNvSpPr txBox="1"/>
              <p:nvPr/>
            </p:nvSpPr>
            <p:spPr>
              <a:xfrm>
                <a:off x="6787255" y="6193947"/>
                <a:ext cx="63500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9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3.27</m:t>
                      </m:r>
                      <m:r>
                        <a:rPr lang="en-US" altLang="zh-TW" sz="9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TW" altLang="en-US" sz="9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7A722DF1-BC53-09FD-ADE4-5DACD6367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255" y="6193947"/>
                <a:ext cx="635000" cy="2308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701C50AC-3F15-E563-AE68-0DB9DA0BD796}"/>
                  </a:ext>
                </a:extLst>
              </p:cNvPr>
              <p:cNvSpPr txBox="1"/>
              <p:nvPr/>
            </p:nvSpPr>
            <p:spPr>
              <a:xfrm>
                <a:off x="10528710" y="5974703"/>
                <a:ext cx="37592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3.55</m:t>
                      </m:r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zh-TW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701C50AC-3F15-E563-AE68-0DB9DA0BD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8710" y="5974703"/>
                <a:ext cx="375920" cy="230832"/>
              </a:xfrm>
              <a:prstGeom prst="rect">
                <a:avLst/>
              </a:prstGeom>
              <a:blipFill>
                <a:blip r:embed="rId20"/>
                <a:stretch>
                  <a:fillRect r="-48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C64C5362-7106-9867-D988-C43F7388D199}"/>
                  </a:ext>
                </a:extLst>
              </p:cNvPr>
              <p:cNvSpPr txBox="1"/>
              <p:nvPr/>
            </p:nvSpPr>
            <p:spPr>
              <a:xfrm>
                <a:off x="8671250" y="5974703"/>
                <a:ext cx="79756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−3.55</m:t>
                      </m:r>
                      <m:r>
                        <a:rPr kumimoji="0" lang="en-US" altLang="zh-TW" sz="9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°</m:t>
                      </m:r>
                    </m:oMath>
                  </m:oMathPara>
                </a14:m>
                <a:endParaRPr kumimoji="0" lang="zh-TW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C64C5362-7106-9867-D988-C43F7388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250" y="5974703"/>
                <a:ext cx="797560" cy="2308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7BFF98FC-65A6-D02F-71F2-55227964C4B4}"/>
                  </a:ext>
                </a:extLst>
              </p:cNvPr>
              <p:cNvSpPr txBox="1"/>
              <p:nvPr/>
            </p:nvSpPr>
            <p:spPr>
              <a:xfrm>
                <a:off x="8295171" y="5963115"/>
                <a:ext cx="66040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9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9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9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.35</m:t>
                      </m:r>
                      <m:r>
                        <a:rPr lang="en-US" altLang="zh-TW" sz="9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TW" altLang="en-US" sz="9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7BFF98FC-65A6-D02F-71F2-55227964C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71" y="5963115"/>
                <a:ext cx="660400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C56B2BD-4855-AE35-C5E5-47043426B2E6}"/>
                  </a:ext>
                </a:extLst>
              </p:cNvPr>
              <p:cNvSpPr txBox="1"/>
              <p:nvPr/>
            </p:nvSpPr>
            <p:spPr>
              <a:xfrm>
                <a:off x="10829060" y="5963115"/>
                <a:ext cx="61468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9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TW" sz="9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.35</m:t>
                      </m:r>
                      <m:r>
                        <a:rPr lang="en-US" altLang="zh-TW" sz="9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TW" altLang="en-US" sz="9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C56B2BD-4855-AE35-C5E5-47043426B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9060" y="5963115"/>
                <a:ext cx="614680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66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635C607-AC23-F243-C60A-628B9D27C7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beam shape depends on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8635C607-AC23-F243-C60A-628B9D27C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E2800D09-7F43-C0DB-8BF9-E67031A4F7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17" y="1955809"/>
            <a:ext cx="2368659" cy="29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5EAE8860-E903-9BAC-5B83-6D2D79205928}"/>
              </a:ext>
            </a:extLst>
          </p:cNvPr>
          <p:cNvCxnSpPr/>
          <p:nvPr/>
        </p:nvCxnSpPr>
        <p:spPr>
          <a:xfrm>
            <a:off x="7931146" y="3632199"/>
            <a:ext cx="2755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D5EC2754-8FF1-BA4E-E965-A38E87DADD5E}"/>
              </a:ext>
            </a:extLst>
          </p:cNvPr>
          <p:cNvCxnSpPr/>
          <p:nvPr/>
        </p:nvCxnSpPr>
        <p:spPr>
          <a:xfrm flipV="1">
            <a:off x="9474200" y="2228849"/>
            <a:ext cx="0" cy="2871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23CC772-1125-921B-6AE8-D37FA1E9AE20}"/>
              </a:ext>
            </a:extLst>
          </p:cNvPr>
          <p:cNvSpPr txBox="1"/>
          <p:nvPr/>
        </p:nvSpPr>
        <p:spPr>
          <a:xfrm>
            <a:off x="8921750" y="3429000"/>
            <a:ext cx="622296" cy="374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6FF4D96-8E2C-4873-A5FA-AEC10CED0F04}"/>
                  </a:ext>
                </a:extLst>
              </p:cNvPr>
              <p:cNvSpPr txBox="1"/>
              <p:nvPr/>
            </p:nvSpPr>
            <p:spPr>
              <a:xfrm>
                <a:off x="10719017" y="3308062"/>
                <a:ext cx="8381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6FF4D96-8E2C-4873-A5FA-AEC10CED0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9017" y="3308062"/>
                <a:ext cx="83819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58EC505-1675-EAA1-AC20-5050008CD04F}"/>
                  </a:ext>
                </a:extLst>
              </p:cNvPr>
              <p:cNvSpPr txBox="1"/>
              <p:nvPr/>
            </p:nvSpPr>
            <p:spPr>
              <a:xfrm>
                <a:off x="9734661" y="1978027"/>
                <a:ext cx="36194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558EC505-1675-EAA1-AC20-5050008CD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661" y="1978027"/>
                <a:ext cx="361948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1D021A0A-12F6-6FCF-FB27-E8A98DE0709F}"/>
              </a:ext>
            </a:extLst>
          </p:cNvPr>
          <p:cNvSpPr txBox="1"/>
          <p:nvPr/>
        </p:nvSpPr>
        <p:spPr>
          <a:xfrm>
            <a:off x="4627398" y="5030096"/>
            <a:ext cx="241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(picture through goggle)</a:t>
            </a:r>
            <a:endParaRPr lang="zh-TW" altLang="en-US" dirty="0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045A888-FFAF-3293-2000-8D3497B7E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949" y="1924207"/>
            <a:ext cx="2152759" cy="297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81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F4AA451C-5D59-F4D2-BE8B-299861E30E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beam shape depends on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F4AA451C-5D59-F4D2-BE8B-299861E30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0AFF95E-E6EF-DA19-4704-8DA659441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16" y="2176750"/>
            <a:ext cx="2368659" cy="29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左大括弧 3">
            <a:extLst>
              <a:ext uri="{FF2B5EF4-FFF2-40B4-BE49-F238E27FC236}">
                <a16:creationId xmlns:a16="http://schemas.microsoft.com/office/drawing/2014/main" id="{44E2647C-014D-5254-D101-EDE8034FC57C}"/>
              </a:ext>
            </a:extLst>
          </p:cNvPr>
          <p:cNvSpPr/>
          <p:nvPr/>
        </p:nvSpPr>
        <p:spPr>
          <a:xfrm rot="16200000">
            <a:off x="1882721" y="5039137"/>
            <a:ext cx="450850" cy="2159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C0B6E5C-4C51-43FB-7788-7D9FA0D2CB8F}"/>
                  </a:ext>
                </a:extLst>
              </p:cNvPr>
              <p:cNvSpPr txBox="1"/>
              <p:nvPr/>
            </p:nvSpPr>
            <p:spPr>
              <a:xfrm>
                <a:off x="1809696" y="5609194"/>
                <a:ext cx="812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0.421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CC0B6E5C-4C51-43FB-7788-7D9FA0D2C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696" y="5609194"/>
                <a:ext cx="812800" cy="369332"/>
              </a:xfrm>
              <a:prstGeom prst="rect">
                <a:avLst/>
              </a:prstGeom>
              <a:blipFill>
                <a:blip r:embed="rId4"/>
                <a:stretch>
                  <a:fillRect l="-6767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3FF733D-70D3-D5F0-6ECB-A4D42E96F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75" y="1690688"/>
            <a:ext cx="7252229" cy="4351338"/>
          </a:xfrm>
        </p:spPr>
      </p:pic>
    </p:spTree>
    <p:extLst>
      <p:ext uri="{BB962C8B-B14F-4D97-AF65-F5344CB8AC3E}">
        <p14:creationId xmlns:p14="http://schemas.microsoft.com/office/powerpoint/2010/main" val="122847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6EF1869-FF92-9CE4-C341-2A2B05C89D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beam shape depends on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06EF1869-FF92-9CE4-C341-2A2B05C89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77A7D6FD-C5AB-5D15-0815-51C3979D9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947" y="1744525"/>
            <a:ext cx="6527006" cy="4351338"/>
          </a:xfr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94507A9-C394-8BB4-EBDA-6454C03232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99" y="2447003"/>
            <a:ext cx="2368659" cy="294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左大括弧 4">
            <a:extLst>
              <a:ext uri="{FF2B5EF4-FFF2-40B4-BE49-F238E27FC236}">
                <a16:creationId xmlns:a16="http://schemas.microsoft.com/office/drawing/2014/main" id="{8FEF99DA-B64C-D7A4-FF85-014AB4C5CB6B}"/>
              </a:ext>
            </a:extLst>
          </p:cNvPr>
          <p:cNvSpPr/>
          <p:nvPr/>
        </p:nvSpPr>
        <p:spPr>
          <a:xfrm rot="10800000">
            <a:off x="2404030" y="2779953"/>
            <a:ext cx="581052" cy="22804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099FF98-4F93-C1C5-A597-DC59981FB2EA}"/>
                  </a:ext>
                </a:extLst>
              </p:cNvPr>
              <p:cNvSpPr txBox="1"/>
              <p:nvPr/>
            </p:nvSpPr>
            <p:spPr>
              <a:xfrm>
                <a:off x="3136900" y="3920194"/>
                <a:ext cx="5047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5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099FF98-4F93-C1C5-A597-DC59981FB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900" y="3920194"/>
                <a:ext cx="504717" cy="369332"/>
              </a:xfrm>
              <a:prstGeom prst="rect">
                <a:avLst/>
              </a:prstGeom>
              <a:blipFill>
                <a:blip r:embed="rId5"/>
                <a:stretch>
                  <a:fillRect l="-10976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716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DB6D78E-9E3A-17F9-9FC9-084B57359E4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beam shape depends on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=23.323</m:t>
                    </m:r>
                  </m:oMath>
                </a14:m>
                <a:r>
                  <a:rPr lang="en-US" altLang="zh-TW" dirty="0"/>
                  <a:t>)</a:t>
                </a:r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DB6D78E-9E3A-17F9-9FC9-084B57359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EAE7548-8A0A-606E-35C5-59BD57D56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639" y="1539045"/>
            <a:ext cx="6360721" cy="4770541"/>
          </a:xfrm>
        </p:spPr>
      </p:pic>
    </p:spTree>
    <p:extLst>
      <p:ext uri="{BB962C8B-B14F-4D97-AF65-F5344CB8AC3E}">
        <p14:creationId xmlns:p14="http://schemas.microsoft.com/office/powerpoint/2010/main" val="1584148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7BFF-8D9F-4D1E-B276-6A01FABD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6C56CBCF-5896-C66E-E911-F4C313E048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beam shape depends on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=23.223</m:t>
                    </m:r>
                  </m:oMath>
                </a14:m>
                <a:r>
                  <a:rPr lang="en-US" altLang="zh-TW" dirty="0"/>
                  <a:t>)</a:t>
                </a:r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6C56CBCF-5896-C66E-E911-F4C313E04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CDCE716C-0D7B-1C2F-31DC-E914CADB2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022" y="1634847"/>
            <a:ext cx="6371955" cy="477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2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B8E8E3C-0050-957A-E6C9-AE2F2BE1919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The beam shape depends on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DB8E8E3C-0050-957A-E6C9-AE2F2BE191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560D6ED-525F-F57A-5ADA-914B4F029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136441"/>
            <a:ext cx="10515600" cy="3729706"/>
          </a:xfrm>
        </p:spPr>
      </p:pic>
    </p:spTree>
    <p:extLst>
      <p:ext uri="{BB962C8B-B14F-4D97-AF65-F5344CB8AC3E}">
        <p14:creationId xmlns:p14="http://schemas.microsoft.com/office/powerpoint/2010/main" val="3701033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4980D-57A0-BBDE-6FB7-05989E0D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Make the light appear in central bright fringe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B9B1E6C-03BF-BC6F-CCBA-4D8A7C40B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fontAlgn="base"/>
                <a:r>
                  <a:rPr lang="en-US" altLang="zh-TW" dirty="0"/>
                  <a:t>The range of angle in the central bright fringe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=0.421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altLang="zh-TW" dirty="0"/>
              </a:p>
              <a:p>
                <a:pPr fontAlgn="base"/>
                <a:r>
                  <a:rPr lang="en-US" altLang="zh-TW" dirty="0"/>
                  <a:t>The input beam diameter is 6mm</a:t>
                </a:r>
              </a:p>
              <a:p>
                <a:pPr fontAlgn="base"/>
                <a:r>
                  <a:rPr lang="en-US" altLang="zh-TW" dirty="0"/>
                  <a:t>Is it possible to find a lens which focus length(f) reach our goal?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B9B1E6C-03BF-BC6F-CCBA-4D8A7C40B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等腰三角形 7">
            <a:extLst>
              <a:ext uri="{FF2B5EF4-FFF2-40B4-BE49-F238E27FC236}">
                <a16:creationId xmlns:a16="http://schemas.microsoft.com/office/drawing/2014/main" id="{6B55BEDA-6C14-1C8C-6FBE-42B5544150F7}"/>
              </a:ext>
            </a:extLst>
          </p:cNvPr>
          <p:cNvSpPr/>
          <p:nvPr/>
        </p:nvSpPr>
        <p:spPr>
          <a:xfrm>
            <a:off x="1892300" y="3644900"/>
            <a:ext cx="1651000" cy="2595563"/>
          </a:xfrm>
          <a:prstGeom prst="triangle">
            <a:avLst>
              <a:gd name="adj" fmla="val 4961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B60CCA5-C108-DA8C-EDA5-BA38CB07FD20}"/>
              </a:ext>
            </a:extLst>
          </p:cNvPr>
          <p:cNvSpPr txBox="1"/>
          <p:nvPr/>
        </p:nvSpPr>
        <p:spPr>
          <a:xfrm>
            <a:off x="2368550" y="6308209"/>
            <a:ext cx="8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6mm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69B40AD0-117C-502B-7958-6E3A36257959}"/>
                  </a:ext>
                </a:extLst>
              </p14:cNvPr>
              <p14:cNvContentPartPr/>
              <p14:nvPr/>
            </p14:nvContentPartPr>
            <p14:xfrm>
              <a:off x="2711090" y="3663930"/>
              <a:ext cx="13320" cy="257184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69B40AD0-117C-502B-7958-6E3A362579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2450" y="3654930"/>
                <a:ext cx="30960" cy="258948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2F5BF186-F5F3-F331-AD33-32DB76AA0102}"/>
              </a:ext>
            </a:extLst>
          </p:cNvPr>
          <p:cNvSpPr txBox="1"/>
          <p:nvPr/>
        </p:nvSpPr>
        <p:spPr>
          <a:xfrm>
            <a:off x="2803524" y="5175250"/>
            <a:ext cx="7130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f</a:t>
            </a:r>
            <a:endParaRPr lang="zh-TW" alt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46B13FCB-48F7-BA8C-4782-57454CFC42EB}"/>
                  </a:ext>
                </a:extLst>
              </p14:cNvPr>
              <p14:cNvContentPartPr/>
              <p14:nvPr/>
            </p14:nvContentPartPr>
            <p14:xfrm>
              <a:off x="2622170" y="3917730"/>
              <a:ext cx="184680" cy="2772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46B13FCB-48F7-BA8C-4782-57454CFC42E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16050" y="3911610"/>
                <a:ext cx="1969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EAD61CB-58B9-88A2-3E08-36D294BFFF5F}"/>
                  </a:ext>
                </a:extLst>
              </p:cNvPr>
              <p:cNvSpPr txBox="1"/>
              <p:nvPr/>
            </p:nvSpPr>
            <p:spPr>
              <a:xfrm>
                <a:off x="1587490" y="3644900"/>
                <a:ext cx="10791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0.421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EAD61CB-58B9-88A2-3E08-36D294BFF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490" y="3644900"/>
                <a:ext cx="10791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FDED9A7-347F-5549-BDE3-AA76A60F0B71}"/>
                  </a:ext>
                </a:extLst>
              </p:cNvPr>
              <p:cNvSpPr txBox="1"/>
              <p:nvPr/>
            </p:nvSpPr>
            <p:spPr>
              <a:xfrm>
                <a:off x="4660900" y="4014232"/>
                <a:ext cx="5022850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𝑓𝑡𝑎𝑛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4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𝑚𝑚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838mm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FDED9A7-347F-5549-BDE3-AA76A60F0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0" y="4014232"/>
                <a:ext cx="5022850" cy="645048"/>
              </a:xfrm>
              <a:prstGeom prst="rect">
                <a:avLst/>
              </a:prstGeom>
              <a:blipFill>
                <a:blip r:embed="rId8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5A9CC5B2-4A0E-0930-DBCC-C804A3A57F69}"/>
              </a:ext>
            </a:extLst>
          </p:cNvPr>
          <p:cNvSpPr txBox="1"/>
          <p:nvPr/>
        </p:nvSpPr>
        <p:spPr>
          <a:xfrm>
            <a:off x="4660900" y="5236805"/>
            <a:ext cx="32448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It’s not feasible!!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1143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477</Words>
  <Application>Microsoft Office PowerPoint</Application>
  <PresentationFormat>寬螢幕</PresentationFormat>
  <Paragraphs>74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佈景主題</vt:lpstr>
      <vt:lpstr>Intensity as a function of refractive index </vt:lpstr>
      <vt:lpstr>The relation of BBO angles and intensity</vt:lpstr>
      <vt:lpstr>The parameter of BBO and laser</vt:lpstr>
      <vt:lpstr>The rotating angles impact on Δk </vt:lpstr>
      <vt:lpstr>The rotating angles impact on intensity</vt:lpstr>
      <vt:lpstr>The beam shape depends on θ,ρ</vt:lpstr>
      <vt:lpstr>The beam shape depends on θ,ρ</vt:lpstr>
      <vt:lpstr>The beam shape depends on θ,ρ</vt:lpstr>
      <vt:lpstr>The beam shape depends on φ(θ=23.323) </vt:lpstr>
      <vt:lpstr>The beam shape depends on φ(θ=23.223) </vt:lpstr>
      <vt:lpstr>The beam shape depends on φ </vt:lpstr>
      <vt:lpstr>Make the light appear in central bright fringe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冠翔 黃</dc:creator>
  <cp:lastModifiedBy>冠翔 黃</cp:lastModifiedBy>
  <cp:revision>8</cp:revision>
  <dcterms:created xsi:type="dcterms:W3CDTF">2025-07-06T02:38:32Z</dcterms:created>
  <dcterms:modified xsi:type="dcterms:W3CDTF">2025-07-09T05:24:07Z</dcterms:modified>
</cp:coreProperties>
</file>